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Rectangle 2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0052A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2286000"/>
            <a:ext cx="73152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4400" b="1">
                <a:solidFill>
                  <a:srgbClr val="FFFFFF"/>
                </a:solidFill>
              </a:defRPr>
            </a:pPr>
            <a:r>
              <a:t>Digital Lifecycle Workflow Accelerator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3474720"/>
            <a:ext cx="73152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800">
                <a:solidFill>
                  <a:srgbClr val="FFFFFF"/>
                </a:solidFill>
              </a:defRPr>
            </a:pPr>
            <a:r>
              <a:t>Automated User Lifecycle Management System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828800" y="5029200"/>
            <a:ext cx="54864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600">
                <a:solidFill>
                  <a:srgbClr val="00A3E0"/>
                </a:solidFill>
              </a:defRPr>
            </a:pPr>
            <a:r>
              <a:t>GCP Compliant  |  21 CFR Part 11  |  100% Audit Coverage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600" b="1">
                <a:solidFill>
                  <a:srgbClr val="0052A5"/>
                </a:solidFill>
              </a:defRPr>
            </a:pPr>
            <a:r>
              <a:t>Executive Summary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defRPr sz="2000">
                <a:solidFill>
                  <a:srgbClr val="2D3748"/>
                </a:solidFill>
              </a:defRPr>
            </a:pPr>
            <a:r>
              <a:t>Professional automation platform for enterprise validation workflows</a:t>
            </a:r>
          </a:p>
          <a:p>
            <a:pPr>
              <a:defRPr sz="2000">
                <a:solidFill>
                  <a:srgbClr val="2D3748"/>
                </a:solidFill>
              </a:defRPr>
            </a:pPr>
            <a:r>
              <a:t>Automated User Management - Reduce manual effort by 90%</a:t>
            </a:r>
          </a:p>
          <a:p>
            <a:pPr>
              <a:defRPr sz="2000">
                <a:solidFill>
                  <a:srgbClr val="2D3748"/>
                </a:solidFill>
              </a:defRPr>
            </a:pPr>
            <a:r>
              <a:t>GCP Compliance - Built-in audit trails</a:t>
            </a:r>
          </a:p>
          <a:p>
            <a:pPr>
              <a:defRPr sz="2000">
                <a:solidFill>
                  <a:srgbClr val="2D3748"/>
                </a:solidFill>
              </a:defRPr>
            </a:pPr>
            <a:r>
              <a:t>21 CFR Part 11 Validation - Pharmaceutical-grade compliance</a:t>
            </a:r>
          </a:p>
          <a:p>
            <a:pPr>
              <a:defRPr sz="2000">
                <a:solidFill>
                  <a:srgbClr val="2D3748"/>
                </a:solidFill>
              </a:defRPr>
            </a:pPr>
            <a:r>
              <a:t>100% Audit Coverage - Every action logged and documented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600" b="1">
                <a:solidFill>
                  <a:srgbClr val="0052A5"/>
                </a:solidFill>
              </a:defRPr>
            </a:pPr>
            <a:r>
              <a:t>Traditional Challenges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defRPr sz="2000">
                <a:solidFill>
                  <a:srgbClr val="2D3748"/>
                </a:solidFill>
              </a:defRPr>
            </a:pPr>
            <a:r>
              <a:t>Manual user creation takes 15-20 minutes per user</a:t>
            </a:r>
          </a:p>
          <a:p>
            <a:pPr>
              <a:defRPr sz="2000">
                <a:solidFill>
                  <a:srgbClr val="2D3748"/>
                </a:solidFill>
              </a:defRPr>
            </a:pPr>
            <a:r>
              <a:t>High risk of human error in data entry</a:t>
            </a:r>
          </a:p>
          <a:p>
            <a:pPr>
              <a:defRPr sz="2000">
                <a:solidFill>
                  <a:srgbClr val="2D3748"/>
                </a:solidFill>
              </a:defRPr>
            </a:pPr>
            <a:r>
              <a:t>GCP audits require detailed activity logs</a:t>
            </a:r>
          </a:p>
          <a:p>
            <a:pPr>
              <a:defRPr sz="2000">
                <a:solidFill>
                  <a:srgbClr val="2D3748"/>
                </a:solidFill>
              </a:defRPr>
            </a:pPr>
            <a:r>
              <a:t>PDF documentation must be created manually</a:t>
            </a:r>
          </a:p>
          <a:p>
            <a:pPr>
              <a:defRPr sz="2000">
                <a:solidFill>
                  <a:srgbClr val="2D3748"/>
                </a:solidFill>
              </a:defRPr>
            </a:pPr>
            <a:r>
              <a:t>No standardized audit format</a:t>
            </a:r>
          </a:p>
          <a:p>
            <a:pPr>
              <a:defRPr sz="2000">
                <a:solidFill>
                  <a:srgbClr val="2D3748"/>
                </a:solidFill>
              </a:defRPr>
            </a:pPr>
            <a:r>
              <a:t>Admin spends hours on repetitive tasks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600" b="1">
                <a:solidFill>
                  <a:srgbClr val="0052A5"/>
                </a:solidFill>
              </a:defRPr>
            </a:pPr>
            <a:r>
              <a:t>Our Solution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defRPr sz="2000">
                <a:solidFill>
                  <a:srgbClr val="2D3748"/>
                </a:solidFill>
              </a:defRPr>
            </a:pPr>
            <a:r>
              <a:t>Single dashboard to manage all administrative tasks</a:t>
            </a:r>
          </a:p>
          <a:p>
            <a:pPr>
              <a:defRPr sz="2000">
                <a:solidFill>
                  <a:srgbClr val="2D3748"/>
                </a:solidFill>
              </a:defRPr>
            </a:pPr>
            <a:r>
              <a:t>Automated role, department, and user provisioning</a:t>
            </a:r>
          </a:p>
          <a:p>
            <a:pPr>
              <a:defRPr sz="2000">
                <a:solidFill>
                  <a:srgbClr val="2D3748"/>
                </a:solidFill>
              </a:defRPr>
            </a:pPr>
            <a:r>
              <a:t>Built-in approval workflows with real-time logging</a:t>
            </a:r>
          </a:p>
          <a:p>
            <a:pPr>
              <a:defRPr sz="2000">
                <a:solidFill>
                  <a:srgbClr val="2D3748"/>
                </a:solidFill>
              </a:defRPr>
            </a:pPr>
            <a:r>
              <a:t>Automatic PDF audit trail generation</a:t>
            </a:r>
          </a:p>
          <a:p>
            <a:pPr>
              <a:defRPr sz="2000">
                <a:solidFill>
                  <a:srgbClr val="2D3748"/>
                </a:solidFill>
              </a:defRPr>
            </a:pPr>
            <a:r>
              <a:t>GCP-compliant documentation</a:t>
            </a:r>
          </a:p>
          <a:p>
            <a:pPr>
              <a:defRPr sz="2000">
                <a:solidFill>
                  <a:srgbClr val="2D3748"/>
                </a:solidFill>
              </a:defRPr>
            </a:pPr>
            <a:r>
              <a:t>Enterprise-grade quality and security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600" b="1">
                <a:solidFill>
                  <a:srgbClr val="0052A5"/>
                </a:solidFill>
              </a:defRPr>
            </a:pPr>
            <a:r>
              <a:t>Core Features Overview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defRPr sz="2000">
                <a:solidFill>
                  <a:srgbClr val="2D3748"/>
                </a:solidFill>
              </a:defRPr>
            </a:pPr>
            <a:r>
              <a:t>Role Management - Create custom roles with permissions</a:t>
            </a:r>
          </a:p>
          <a:p>
            <a:pPr>
              <a:defRPr sz="2000">
                <a:solidFill>
                  <a:srgbClr val="2D3748"/>
                </a:solidFill>
              </a:defRPr>
            </a:pPr>
            <a:r>
              <a:t>Department Management - Automated setup workflow</a:t>
            </a:r>
          </a:p>
          <a:p>
            <a:pPr>
              <a:defRPr sz="2000">
                <a:solidFill>
                  <a:srgbClr val="2D3748"/>
                </a:solidFill>
              </a:defRPr>
            </a:pPr>
            <a:r>
              <a:t>User Provisioning - Full lifecycle automation</a:t>
            </a:r>
          </a:p>
          <a:p>
            <a:pPr>
              <a:defRPr sz="2000">
                <a:solidFill>
                  <a:srgbClr val="2D3748"/>
                </a:solidFill>
              </a:defRPr>
            </a:pPr>
            <a:r>
              <a:t>User Deactivation - Secure deactivation process</a:t>
            </a:r>
          </a:p>
          <a:p>
            <a:pPr>
              <a:defRPr sz="2000">
                <a:solidFill>
                  <a:srgbClr val="2D3748"/>
                </a:solidFill>
              </a:defRPr>
            </a:pPr>
            <a:r>
              <a:t>Complete Setup Flow - End-to-end automation</a:t>
            </a:r>
          </a:p>
          <a:p>
            <a:pPr>
              <a:defRPr sz="2000">
                <a:solidFill>
                  <a:srgbClr val="2D3748"/>
                </a:solidFill>
              </a:defRPr>
            </a:pPr>
            <a:r>
              <a:t>PDF Audit Trails - Regulatory compliance built-in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600" b="1">
                <a:solidFill>
                  <a:srgbClr val="0052A5"/>
                </a:solidFill>
              </a:defRPr>
            </a:pPr>
            <a:r>
              <a:t>Role Management Workflow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defRPr sz="2000">
                <a:solidFill>
                  <a:srgbClr val="2D3748"/>
                </a:solidFill>
              </a:defRPr>
            </a:pPr>
            <a:r>
              <a:t>Automated permission assignment</a:t>
            </a:r>
          </a:p>
          <a:p>
            <a:pPr>
              <a:defRPr sz="2000">
                <a:solidFill>
                  <a:srgbClr val="2D3748"/>
                </a:solidFill>
              </a:defRPr>
            </a:pPr>
            <a:r>
              <a:t>Duplicate role detection with flexible strategies</a:t>
            </a:r>
          </a:p>
          <a:p>
            <a:pPr>
              <a:defRPr sz="2000">
                <a:solidFill>
                  <a:srgbClr val="2D3748"/>
                </a:solidFill>
              </a:defRPr>
            </a:pPr>
            <a:r>
              <a:t>Real-time status logging and validation</a:t>
            </a:r>
          </a:p>
          <a:p>
            <a:pPr>
              <a:defRPr sz="2000">
                <a:solidFill>
                  <a:srgbClr val="2D3748"/>
                </a:solidFill>
              </a:defRPr>
            </a:pPr>
            <a:r>
              <a:t>Error recovery mechanisms</a:t>
            </a:r>
          </a:p>
          <a:p>
            <a:pPr>
              <a:defRPr sz="2000">
                <a:solidFill>
                  <a:srgbClr val="2D3748"/>
                </a:solidFill>
              </a:defRPr>
            </a:pPr>
            <a:r>
              <a:t>PDF audit trail with timestamps</a:t>
            </a:r>
          </a:p>
          <a:p>
            <a:pPr>
              <a:defRPr sz="2000">
                <a:solidFill>
                  <a:srgbClr val="2D3748"/>
                </a:solidFill>
              </a:defRPr>
            </a:pPr>
            <a:r>
              <a:t>Time Saved: 5-7 minutes per role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600" b="1">
                <a:solidFill>
                  <a:srgbClr val="0052A5"/>
                </a:solidFill>
              </a:defRPr>
            </a:pPr>
            <a:r>
              <a:t>Department Management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defRPr sz="2000">
                <a:solidFill>
                  <a:srgbClr val="2D3748"/>
                </a:solidFill>
              </a:defRPr>
            </a:pPr>
            <a:r>
              <a:t>Hierarchical organization support</a:t>
            </a:r>
          </a:p>
          <a:p>
            <a:pPr>
              <a:defRPr sz="2000">
                <a:solidFill>
                  <a:srgbClr val="2D3748"/>
                </a:solidFill>
              </a:defRPr>
            </a:pPr>
            <a:r>
              <a:t>Automated description population</a:t>
            </a:r>
          </a:p>
          <a:p>
            <a:pPr>
              <a:defRPr sz="2000">
                <a:solidFill>
                  <a:srgbClr val="2D3748"/>
                </a:solidFill>
              </a:defRPr>
            </a:pPr>
            <a:r>
              <a:t>Duplicate detection and handling</a:t>
            </a:r>
          </a:p>
          <a:p>
            <a:pPr>
              <a:defRPr sz="2000">
                <a:solidFill>
                  <a:srgbClr val="2D3748"/>
                </a:solidFill>
              </a:defRPr>
            </a:pPr>
            <a:r>
              <a:t>Batch processing capability</a:t>
            </a:r>
          </a:p>
          <a:p>
            <a:pPr>
              <a:defRPr sz="2000">
                <a:solidFill>
                  <a:srgbClr val="2D3748"/>
                </a:solidFill>
              </a:defRPr>
            </a:pPr>
            <a:r>
              <a:t>Complete audit documentation</a:t>
            </a:r>
          </a:p>
          <a:p>
            <a:pPr>
              <a:defRPr sz="2000">
                <a:solidFill>
                  <a:srgbClr val="2D3748"/>
                </a:solidFill>
              </a:defRPr>
            </a:pPr>
            <a:r>
              <a:t>Time Saved: 3-5 minutes per department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600" b="1">
                <a:solidFill>
                  <a:srgbClr val="0052A5"/>
                </a:solidFill>
              </a:defRPr>
            </a:pPr>
            <a:r>
              <a:t>User Provisioning - 4-Step Process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defRPr sz="2000">
                <a:solidFill>
                  <a:srgbClr val="2D3748"/>
                </a:solidFill>
              </a:defRPr>
            </a:pPr>
            <a:r>
              <a:t>Step 1: Admin Form Submission - Automated form filling</a:t>
            </a:r>
          </a:p>
          <a:p>
            <a:pPr>
              <a:defRPr sz="2000">
                <a:solidFill>
                  <a:srgbClr val="2D3748"/>
                </a:solidFill>
              </a:defRPr>
            </a:pPr>
            <a:r>
              <a:t>Step 2: User Signup - Email verification simulation</a:t>
            </a:r>
          </a:p>
          <a:p>
            <a:pPr>
              <a:defRPr sz="2000">
                <a:solidFill>
                  <a:srgbClr val="2D3748"/>
                </a:solidFill>
              </a:defRPr>
            </a:pPr>
            <a:r>
              <a:t>Step 3: Admin Activation - Automated approval workflow</a:t>
            </a:r>
          </a:p>
          <a:p>
            <a:pPr>
              <a:defRPr sz="2000">
                <a:solidFill>
                  <a:srgbClr val="2D3748"/>
                </a:solidFill>
              </a:defRPr>
            </a:pPr>
            <a:r>
              <a:t>Step 4: Login Verification - Credentials validation</a:t>
            </a:r>
          </a:p>
          <a:p>
            <a:pPr>
              <a:defRPr sz="2000">
                <a:solidFill>
                  <a:srgbClr val="2D3748"/>
                </a:solidFill>
              </a:defRPr>
            </a:pPr>
            <a:r>
              <a:t>Every step logged with precise timestamp</a:t>
            </a:r>
          </a:p>
          <a:p>
            <a:pPr>
              <a:defRPr sz="2000">
                <a:solidFill>
                  <a:srgbClr val="2D3748"/>
                </a:solidFill>
              </a:defRPr>
            </a:pPr>
            <a:r>
              <a:t>Time Saved: 15-20 minutes per user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600" b="1">
                <a:solidFill>
                  <a:srgbClr val="0052A5"/>
                </a:solidFill>
              </a:defRPr>
            </a:pPr>
            <a:r>
              <a:t>User Deactivation Process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defRPr sz="2000">
                <a:solidFill>
                  <a:srgbClr val="2D3748"/>
                </a:solidFill>
              </a:defRPr>
            </a:pPr>
            <a:r>
              <a:t>Batch deactivation support</a:t>
            </a:r>
          </a:p>
          <a:p>
            <a:pPr>
              <a:defRPr sz="2000">
                <a:solidFill>
                  <a:srgbClr val="2D3748"/>
                </a:solidFill>
              </a:defRPr>
            </a:pPr>
            <a:r>
              <a:t>Admin-authenticated process only</a:t>
            </a:r>
          </a:p>
          <a:p>
            <a:pPr>
              <a:defRPr sz="2000">
                <a:solidFill>
                  <a:srgbClr val="2D3748"/>
                </a:solidFill>
              </a:defRPr>
            </a:pPr>
            <a:r>
              <a:t>Continue-on-error option for bulk operations</a:t>
            </a:r>
          </a:p>
          <a:p>
            <a:pPr>
              <a:defRPr sz="2000">
                <a:solidFill>
                  <a:srgbClr val="2D3748"/>
                </a:solidFill>
              </a:defRPr>
            </a:pPr>
            <a:r>
              <a:t>Detailed status messages and logging</a:t>
            </a:r>
          </a:p>
          <a:p>
            <a:pPr>
              <a:defRPr sz="2000">
                <a:solidFill>
                  <a:srgbClr val="2D3748"/>
                </a:solidFill>
              </a:defRPr>
            </a:pPr>
            <a:r>
              <a:t>Deactivation audit trail with timestamps</a:t>
            </a:r>
          </a:p>
          <a:p>
            <a:pPr>
              <a:defRPr sz="2000">
                <a:solidFill>
                  <a:srgbClr val="2D3748"/>
                </a:solidFill>
              </a:defRPr>
            </a:pPr>
            <a:r>
              <a:t>Secure compliance documentation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600" b="1">
                <a:solidFill>
                  <a:srgbClr val="0052A5"/>
                </a:solidFill>
              </a:defRPr>
            </a:pPr>
            <a:r>
              <a:t>Complete Setup Flow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defRPr sz="2000">
                <a:solidFill>
                  <a:srgbClr val="2D3748"/>
                </a:solidFill>
              </a:defRPr>
            </a:pPr>
            <a:r>
              <a:t>Single Click → Complete Setup</a:t>
            </a:r>
          </a:p>
          <a:p>
            <a:pPr>
              <a:defRPr sz="2000">
                <a:solidFill>
                  <a:srgbClr val="2D3748"/>
                </a:solidFill>
              </a:defRPr>
            </a:pPr>
            <a:r>
              <a:t>Role Creation → Department Setup → User Provisioning</a:t>
            </a:r>
          </a:p>
          <a:p>
            <a:pPr>
              <a:defRPr sz="2000">
                <a:solidFill>
                  <a:srgbClr val="2D3748"/>
                </a:solidFill>
              </a:defRPr>
            </a:pPr>
            <a:r>
              <a:t>Comprehensive audit report for entire workflow</a:t>
            </a:r>
          </a:p>
          <a:p>
            <a:pPr>
              <a:defRPr sz="2000">
                <a:solidFill>
                  <a:srgbClr val="2D3748"/>
                </a:solidFill>
              </a:defRPr>
            </a:pPr>
            <a:r>
              <a:t>30-40 minutes saved per complete setup</a:t>
            </a:r>
          </a:p>
          <a:p>
            <a:pPr>
              <a:defRPr sz="2000">
                <a:solidFill>
                  <a:srgbClr val="2D3748"/>
                </a:solidFill>
              </a:defRPr>
            </a:pPr>
            <a:r>
              <a:t>Zero manual intervention required</a:t>
            </a:r>
          </a:p>
          <a:p>
            <a:pPr>
              <a:defRPr sz="2000">
                <a:solidFill>
                  <a:srgbClr val="2D3748"/>
                </a:solidFill>
              </a:defRPr>
            </a:pPr>
            <a:r>
              <a:t>Consistent process every time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600" b="1">
                <a:solidFill>
                  <a:srgbClr val="0052A5"/>
                </a:solidFill>
              </a:defRPr>
            </a:pPr>
            <a:r>
              <a:t>Professional User Interface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defRPr sz="2000">
                <a:solidFill>
                  <a:srgbClr val="2D3748"/>
                </a:solidFill>
              </a:defRPr>
            </a:pPr>
            <a:r>
              <a:t>Modern design with DLWA branding</a:t>
            </a:r>
          </a:p>
          <a:p>
            <a:pPr>
              <a:defRPr sz="2000">
                <a:solidFill>
                  <a:srgbClr val="2D3748"/>
                </a:solidFill>
              </a:defRPr>
            </a:pPr>
            <a:r>
              <a:t>GCP Compliant and 21 CFR Part 11 badges</a:t>
            </a:r>
          </a:p>
          <a:p>
            <a:pPr>
              <a:defRPr sz="2000">
                <a:solidFill>
                  <a:srgbClr val="2D3748"/>
                </a:solidFill>
              </a:defRPr>
            </a:pPr>
            <a:r>
              <a:t>Clear value proposition with key statistics</a:t>
            </a:r>
          </a:p>
          <a:p>
            <a:pPr>
              <a:defRPr sz="2000">
                <a:solidFill>
                  <a:srgbClr val="2D3748"/>
                </a:solidFill>
              </a:defRPr>
            </a:pPr>
            <a:r>
              <a:t>Real-time activity logging with color coding</a:t>
            </a:r>
          </a:p>
          <a:p>
            <a:pPr>
              <a:defRPr sz="2000">
                <a:solidFill>
                  <a:srgbClr val="2D3748"/>
                </a:solidFill>
              </a:defRPr>
            </a:pPr>
            <a:r>
              <a:t>Easy-to-use form inputs and controls</a:t>
            </a:r>
          </a:p>
          <a:p>
            <a:pPr>
              <a:defRPr sz="2000">
                <a:solidFill>
                  <a:srgbClr val="2D3748"/>
                </a:solidFill>
              </a:defRPr>
            </a:pPr>
            <a:r>
              <a:t>Live system status indicator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600" b="1">
                <a:solidFill>
                  <a:srgbClr val="0052A5"/>
                </a:solidFill>
              </a:defRPr>
            </a:pPr>
            <a:r>
              <a:t>GCP Compliance &amp; Audit Trail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defRPr sz="2000">
                <a:solidFill>
                  <a:srgbClr val="2D3748"/>
                </a:solidFill>
              </a:defRPr>
            </a:pPr>
            <a:r>
              <a:t>Automatically generated for every operation</a:t>
            </a:r>
          </a:p>
          <a:p>
            <a:pPr>
              <a:defRPr sz="2000">
                <a:solidFill>
                  <a:srgbClr val="2D3748"/>
                </a:solidFill>
              </a:defRPr>
            </a:pPr>
            <a:r>
              <a:t>Professional branded header in enterprise blue</a:t>
            </a:r>
          </a:p>
          <a:p>
            <a:pPr>
              <a:defRPr sz="2000">
                <a:solidFill>
                  <a:srgbClr val="2D3748"/>
                </a:solidFill>
              </a:defRPr>
            </a:pPr>
            <a:r>
              <a:t>Operation details: Type, User, Environment, Timestamp</a:t>
            </a:r>
          </a:p>
          <a:p>
            <a:pPr>
              <a:defRPr sz="2000">
                <a:solidFill>
                  <a:srgbClr val="2D3748"/>
                </a:solidFill>
              </a:defRPr>
            </a:pPr>
            <a:r>
              <a:t>Execution results with individual timestamps</a:t>
            </a:r>
          </a:p>
          <a:p>
            <a:pPr>
              <a:defRPr sz="2000">
                <a:solidFill>
                  <a:srgbClr val="2D3748"/>
                </a:solidFill>
              </a:defRPr>
            </a:pPr>
            <a:r>
              <a:t>Page footers with Report ID and page numbers</a:t>
            </a:r>
          </a:p>
          <a:p>
            <a:pPr>
              <a:defRPr sz="2000">
                <a:solidFill>
                  <a:srgbClr val="2D3748"/>
                </a:solidFill>
              </a:defRPr>
            </a:pPr>
            <a:r>
              <a:t>GCP compliance statement on every page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600" b="1">
                <a:solidFill>
                  <a:srgbClr val="0052A5"/>
                </a:solidFill>
              </a:defRPr>
            </a:pPr>
            <a:r>
              <a:t>PDF Audit Report Features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defRPr sz="2000">
                <a:solidFill>
                  <a:srgbClr val="2D3748"/>
                </a:solidFill>
              </a:defRPr>
            </a:pPr>
            <a:r>
              <a:t>Blue branded header - Professional appearance</a:t>
            </a:r>
          </a:p>
          <a:p>
            <a:pPr>
              <a:defRPr sz="2000">
                <a:solidFill>
                  <a:srgbClr val="2D3748"/>
                </a:solidFill>
              </a:defRPr>
            </a:pPr>
            <a:r>
              <a:t>Operation Details - Complete context</a:t>
            </a:r>
          </a:p>
          <a:p>
            <a:pPr>
              <a:defRPr sz="2000">
                <a:solidFill>
                  <a:srgbClr val="2D3748"/>
                </a:solidFill>
              </a:defRPr>
            </a:pPr>
            <a:r>
              <a:t>Execution Results - Item-by-item documentation</a:t>
            </a:r>
          </a:p>
          <a:p>
            <a:pPr>
              <a:defRPr sz="2000">
                <a:solidFill>
                  <a:srgbClr val="2D3748"/>
                </a:solidFill>
              </a:defRPr>
            </a:pPr>
            <a:r>
              <a:t>Individual timestamps (IST) - Full traceability</a:t>
            </a:r>
          </a:p>
          <a:p>
            <a:pPr>
              <a:defRPr sz="2000">
                <a:solidFill>
                  <a:srgbClr val="2D3748"/>
                </a:solidFill>
              </a:defRPr>
            </a:pPr>
            <a:r>
              <a:t>Status tracking - created/skipped/failed</a:t>
            </a:r>
          </a:p>
          <a:p>
            <a:pPr>
              <a:defRPr sz="2000">
                <a:solidFill>
                  <a:srgbClr val="2D3748"/>
                </a:solidFill>
              </a:defRPr>
            </a:pPr>
            <a:r>
              <a:t>Unique Report ID - Easy retrieval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600" b="1">
                <a:solidFill>
                  <a:srgbClr val="0052A5"/>
                </a:solidFill>
              </a:defRPr>
            </a:pPr>
            <a:r>
              <a:t>Meeting Regulatory Requirements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defRPr sz="2000">
                <a:solidFill>
                  <a:srgbClr val="2D3748"/>
                </a:solidFill>
              </a:defRPr>
            </a:pPr>
            <a:r>
              <a:t>GCP: Audit trail, traceability, accountability</a:t>
            </a:r>
          </a:p>
          <a:p>
            <a:pPr>
              <a:defRPr sz="2000">
                <a:solidFill>
                  <a:srgbClr val="2D3748"/>
                </a:solidFill>
              </a:defRPr>
            </a:pPr>
            <a:r>
              <a:t>21 CFR Part 11: Electronic records &amp; signatures</a:t>
            </a:r>
          </a:p>
          <a:p>
            <a:pPr>
              <a:defRPr sz="2000">
                <a:solidFill>
                  <a:srgbClr val="2D3748"/>
                </a:solidFill>
              </a:defRPr>
            </a:pPr>
            <a:r>
              <a:t>Data Integrity: Immutable PDF records</a:t>
            </a:r>
          </a:p>
          <a:p>
            <a:pPr>
              <a:defRPr sz="2000">
                <a:solidFill>
                  <a:srgbClr val="2D3748"/>
                </a:solidFill>
              </a:defRPr>
            </a:pPr>
            <a:r>
              <a:t>Version Control: Unique report IDs</a:t>
            </a:r>
          </a:p>
          <a:p>
            <a:pPr>
              <a:defRPr sz="2000">
                <a:solidFill>
                  <a:srgbClr val="2D3748"/>
                </a:solidFill>
              </a:defRPr>
            </a:pPr>
            <a:r>
              <a:t>Standardized format: Consistent structure</a:t>
            </a:r>
          </a:p>
          <a:p>
            <a:pPr>
              <a:defRPr sz="2000">
                <a:solidFill>
                  <a:srgbClr val="2D3748"/>
                </a:solidFill>
              </a:defRPr>
            </a:pPr>
            <a:r>
              <a:t>Inspection ready: Regulator-friendly format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457200" y="45720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0052A5"/>
                </a:solidFill>
              </a:defRPr>
            </a:pPr>
            <a:r>
              <a:t>Performance &amp; Time Savings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1828800"/>
            <a:ext cx="22860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4800" b="1">
                <a:solidFill>
                  <a:srgbClr val="0052A5"/>
                </a:solidFill>
              </a:defRPr>
            </a:pPr>
            <a:r>
              <a:t>90%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2926080"/>
            <a:ext cx="22860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600">
                <a:solidFill>
                  <a:srgbClr val="718096"/>
                </a:solidFill>
              </a:defRPr>
            </a:pPr>
            <a:r>
              <a:t>Time Saved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474720" y="1828800"/>
            <a:ext cx="22860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4800" b="1">
                <a:solidFill>
                  <a:srgbClr val="0052A5"/>
                </a:solidFill>
              </a:defRPr>
            </a:pPr>
            <a:r>
              <a:t>100+ hrs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474720" y="2926080"/>
            <a:ext cx="22860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600">
                <a:solidFill>
                  <a:srgbClr val="718096"/>
                </a:solidFill>
              </a:defRPr>
            </a:pPr>
            <a:r>
              <a:t>Annually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035040" y="1828800"/>
            <a:ext cx="22860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4800" b="1">
                <a:solidFill>
                  <a:srgbClr val="0052A5"/>
                </a:solidFill>
              </a:defRPr>
            </a:pPr>
            <a:r>
              <a:t>$10K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035040" y="2926080"/>
            <a:ext cx="22860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600">
                <a:solidFill>
                  <a:srgbClr val="718096"/>
                </a:solidFill>
              </a:defRPr>
            </a:pPr>
            <a:r>
              <a:t>Cost Reduction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600" b="1">
                <a:solidFill>
                  <a:srgbClr val="0052A5"/>
                </a:solidFill>
              </a:defRPr>
            </a:pPr>
            <a:r>
              <a:t>Enterprise-Grade Reliability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defRPr sz="2000">
                <a:solidFill>
                  <a:srgbClr val="2D3748"/>
                </a:solidFill>
              </a:defRPr>
            </a:pPr>
            <a:r>
              <a:t>Optimized performance - No unnecessary session checks</a:t>
            </a:r>
          </a:p>
          <a:p>
            <a:pPr>
              <a:defRPr sz="2000">
                <a:solidFill>
                  <a:srgbClr val="2D3748"/>
                </a:solidFill>
              </a:defRPr>
            </a:pPr>
            <a:r>
              <a:t>Automatic retry on transient failures</a:t>
            </a:r>
          </a:p>
          <a:p>
            <a:pPr>
              <a:defRPr sz="2000">
                <a:solidFill>
                  <a:srgbClr val="2D3748"/>
                </a:solidFill>
              </a:defRPr>
            </a:pPr>
            <a:r>
              <a:t>Duplicate detection with flexible strategies</a:t>
            </a:r>
          </a:p>
          <a:p>
            <a:pPr>
              <a:defRPr sz="2000">
                <a:solidFill>
                  <a:srgbClr val="2D3748"/>
                </a:solidFill>
              </a:defRPr>
            </a:pPr>
            <a:r>
              <a:t>Network error recovery mechanisms</a:t>
            </a:r>
          </a:p>
          <a:p>
            <a:pPr>
              <a:defRPr sz="2000">
                <a:solidFill>
                  <a:srgbClr val="2D3748"/>
                </a:solidFill>
              </a:defRPr>
            </a:pPr>
            <a:r>
              <a:t>95%+ success rate for user creation</a:t>
            </a:r>
          </a:p>
          <a:p>
            <a:pPr>
              <a:defRPr sz="2000">
                <a:solidFill>
                  <a:srgbClr val="2D3748"/>
                </a:solidFill>
              </a:defRPr>
            </a:pPr>
            <a:r>
              <a:t>100% audit trail generation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457200" y="45720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0052A5"/>
                </a:solidFill>
              </a:defRPr>
            </a:pPr>
            <a:r>
              <a:t>Use Case: New Project Onboarding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371600"/>
            <a:ext cx="4114800" cy="4572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spcAft>
                <a:spcPts val="1000"/>
              </a:spcAft>
              <a:defRPr sz="1800">
                <a:solidFill>
                  <a:srgbClr val="2D3748"/>
                </a:solidFill>
              </a:defRPr>
            </a:pPr>
            <a:r>
              <a:t>Traditional Approach:</a:t>
            </a:r>
          </a:p>
          <a:p>
            <a:pPr>
              <a:spcAft>
                <a:spcPts val="1000"/>
              </a:spcAft>
              <a:defRPr sz="1800">
                <a:solidFill>
                  <a:srgbClr val="2D3748"/>
                </a:solidFill>
              </a:defRPr>
            </a:pPr>
            <a:r>
              <a:t>• 10 users × 20 min = 200 min</a:t>
            </a:r>
          </a:p>
          <a:p>
            <a:pPr>
              <a:spcAft>
                <a:spcPts val="1000"/>
              </a:spcAft>
              <a:defRPr sz="1800">
                <a:solidFill>
                  <a:srgbClr val="2D3748"/>
                </a:solidFill>
              </a:defRPr>
            </a:pPr>
            <a:r>
              <a:t>• Manual PDF = 30 min</a:t>
            </a:r>
          </a:p>
          <a:p>
            <a:pPr>
              <a:spcAft>
                <a:spcPts val="1000"/>
              </a:spcAft>
              <a:defRPr sz="1800">
                <a:solidFill>
                  <a:srgbClr val="2D3748"/>
                </a:solidFill>
              </a:defRPr>
            </a:pPr>
            <a:r>
              <a:t>• Total: 230 minutes</a:t>
            </a:r>
          </a:p>
          <a:p>
            <a:pPr>
              <a:spcAft>
                <a:spcPts val="1000"/>
              </a:spcAft>
              <a:defRPr sz="1800">
                <a:solidFill>
                  <a:srgbClr val="2D3748"/>
                </a:solidFill>
              </a:defRPr>
            </a:pPr>
          </a:p>
          <a:p>
            <a:pPr>
              <a:spcAft>
                <a:spcPts val="1000"/>
              </a:spcAft>
              <a:defRPr sz="1800">
                <a:solidFill>
                  <a:srgbClr val="2D3748"/>
                </a:solidFill>
              </a:defRPr>
            </a:pPr>
            <a:r>
              <a:t>Error rate: ~15%</a:t>
            </a:r>
          </a:p>
          <a:p>
            <a:pPr>
              <a:spcAft>
                <a:spcPts val="1000"/>
              </a:spcAft>
              <a:defRPr sz="1800">
                <a:solidFill>
                  <a:srgbClr val="2D3748"/>
                </a:solidFill>
              </a:defRPr>
            </a:pPr>
            <a:r>
              <a:t>Compliance: Manual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0" y="1371600"/>
            <a:ext cx="4114800" cy="4572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spcAft>
                <a:spcPts val="1000"/>
              </a:spcAft>
              <a:defRPr sz="1800">
                <a:solidFill>
                  <a:srgbClr val="2D3748"/>
                </a:solidFill>
              </a:defRPr>
            </a:pPr>
            <a:r>
              <a:t>With DLWA:</a:t>
            </a:r>
          </a:p>
          <a:p>
            <a:pPr>
              <a:spcAft>
                <a:spcPts val="1000"/>
              </a:spcAft>
              <a:defRPr sz="1800">
                <a:solidFill>
                  <a:srgbClr val="2D3748"/>
                </a:solidFill>
              </a:defRPr>
            </a:pPr>
            <a:r>
              <a:t>• 10 users × 3 min = 30 min</a:t>
            </a:r>
          </a:p>
          <a:p>
            <a:pPr>
              <a:spcAft>
                <a:spcPts val="1000"/>
              </a:spcAft>
              <a:defRPr sz="1800">
                <a:solidFill>
                  <a:srgbClr val="2D3748"/>
                </a:solidFill>
              </a:defRPr>
            </a:pPr>
            <a:r>
              <a:t>• Automatic PDF = Instant</a:t>
            </a:r>
          </a:p>
          <a:p>
            <a:pPr>
              <a:spcAft>
                <a:spcPts val="1000"/>
              </a:spcAft>
              <a:defRPr sz="1800">
                <a:solidFill>
                  <a:srgbClr val="2D3748"/>
                </a:solidFill>
              </a:defRPr>
            </a:pPr>
            <a:r>
              <a:t>• Total: 30 minutes</a:t>
            </a:r>
          </a:p>
          <a:p>
            <a:pPr>
              <a:spcAft>
                <a:spcPts val="1000"/>
              </a:spcAft>
              <a:defRPr sz="1800">
                <a:solidFill>
                  <a:srgbClr val="2D3748"/>
                </a:solidFill>
              </a:defRPr>
            </a:pPr>
          </a:p>
          <a:p>
            <a:pPr>
              <a:spcAft>
                <a:spcPts val="1000"/>
              </a:spcAft>
              <a:defRPr sz="1800">
                <a:solidFill>
                  <a:srgbClr val="2D3748"/>
                </a:solidFill>
              </a:defRPr>
            </a:pPr>
            <a:r>
              <a:t>Error rate: 0%</a:t>
            </a:r>
          </a:p>
          <a:p>
            <a:pPr>
              <a:spcAft>
                <a:spcPts val="1000"/>
              </a:spcAft>
              <a:defRPr sz="1800">
                <a:solidFill>
                  <a:srgbClr val="2D3748"/>
                </a:solidFill>
              </a:defRPr>
            </a:pPr>
            <a:r>
              <a:t>Compliance: Automatic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600" b="1">
                <a:solidFill>
                  <a:srgbClr val="0052A5"/>
                </a:solidFill>
              </a:defRPr>
            </a:pPr>
            <a:r>
              <a:t>Return on Investment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defRPr sz="2000">
                <a:solidFill>
                  <a:srgbClr val="2D3748"/>
                </a:solidFill>
              </a:defRPr>
            </a:pPr>
            <a:r>
              <a:t>Annual Time Savings: 100+ hours</a:t>
            </a:r>
          </a:p>
          <a:p>
            <a:pPr>
              <a:defRPr sz="2000">
                <a:solidFill>
                  <a:srgbClr val="2D3748"/>
                </a:solidFill>
              </a:defRPr>
            </a:pPr>
            <a:r>
              <a:t>Cost Savings: $5,000 - $10,000 per year</a:t>
            </a:r>
          </a:p>
          <a:p>
            <a:pPr>
              <a:defRPr sz="2000">
                <a:solidFill>
                  <a:srgbClr val="2D3748"/>
                </a:solidFill>
              </a:defRPr>
            </a:pPr>
            <a:r>
              <a:t>Error Reduction: 90%+ fewer manual errors</a:t>
            </a:r>
          </a:p>
          <a:p>
            <a:pPr>
              <a:defRPr sz="2000">
                <a:solidFill>
                  <a:srgbClr val="2D3748"/>
                </a:solidFill>
              </a:defRPr>
            </a:pPr>
            <a:r>
              <a:t>Compliance Value: Invaluable during audits</a:t>
            </a:r>
          </a:p>
          <a:p>
            <a:pPr>
              <a:defRPr sz="2000">
                <a:solidFill>
                  <a:srgbClr val="2D3748"/>
                </a:solidFill>
              </a:defRPr>
            </a:pPr>
            <a:r>
              <a:t>Payback Period: Weeks, not months</a:t>
            </a:r>
          </a:p>
          <a:p>
            <a:pPr>
              <a:defRPr sz="2000">
                <a:solidFill>
                  <a:srgbClr val="2D3748"/>
                </a:solidFill>
              </a:defRPr>
            </a:pPr>
            <a:r>
              <a:t>Ongoing savings compound over time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600" b="1">
                <a:solidFill>
                  <a:srgbClr val="0052A5"/>
                </a:solidFill>
              </a:defRPr>
            </a:pPr>
            <a:r>
              <a:t>Why Choose DLWA?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defRPr sz="2000">
                <a:solidFill>
                  <a:srgbClr val="2D3748"/>
                </a:solidFill>
              </a:defRPr>
            </a:pPr>
            <a:r>
              <a:t>Complete Automation - Full lifecycle, not just creation</a:t>
            </a:r>
          </a:p>
          <a:p>
            <a:pPr>
              <a:defRPr sz="2000">
                <a:solidFill>
                  <a:srgbClr val="2D3748"/>
                </a:solidFill>
              </a:defRPr>
            </a:pPr>
            <a:r>
              <a:t>Regulatory Compliance - GCP &amp; 21 CFR Part 11 built-in</a:t>
            </a:r>
          </a:p>
          <a:p>
            <a:pPr>
              <a:defRPr sz="2000">
                <a:solidFill>
                  <a:srgbClr val="2D3748"/>
                </a:solidFill>
              </a:defRPr>
            </a:pPr>
            <a:r>
              <a:t>Professional Quality - Enterprise-grade everything</a:t>
            </a:r>
          </a:p>
          <a:p>
            <a:pPr>
              <a:defRPr sz="2000">
                <a:solidFill>
                  <a:srgbClr val="2D3748"/>
                </a:solidFill>
              </a:defRPr>
            </a:pPr>
            <a:r>
              <a:t>Proven Reliability - 95%+ success rate</a:t>
            </a:r>
          </a:p>
          <a:p>
            <a:pPr>
              <a:defRPr sz="2000">
                <a:solidFill>
                  <a:srgbClr val="2D3748"/>
                </a:solidFill>
              </a:defRPr>
            </a:pPr>
            <a:r>
              <a:t>Time &amp; Cost Savings - 90% reduction in effort</a:t>
            </a:r>
          </a:p>
          <a:p>
            <a:pPr>
              <a:defRPr sz="2000">
                <a:solidFill>
                  <a:srgbClr val="2D3748"/>
                </a:solidFill>
              </a:defRPr>
            </a:pPr>
            <a:r>
              <a:t>Modern Technology - Future-proof architecture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600" b="1">
                <a:solidFill>
                  <a:srgbClr val="0052A5"/>
                </a:solidFill>
              </a:defRPr>
            </a:pPr>
            <a:r>
              <a:t>Enterprise Security Standards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defRPr sz="2000">
                <a:solidFill>
                  <a:srgbClr val="2D3748"/>
                </a:solidFill>
              </a:defRPr>
            </a:pPr>
            <a:r>
              <a:t>Admin authentication required for all operations</a:t>
            </a:r>
          </a:p>
          <a:p>
            <a:pPr>
              <a:defRPr sz="2000">
                <a:solidFill>
                  <a:srgbClr val="2D3748"/>
                </a:solidFill>
              </a:defRPr>
            </a:pPr>
            <a:r>
              <a:t>Role-based access control (RBAC)</a:t>
            </a:r>
          </a:p>
          <a:p>
            <a:pPr>
              <a:defRPr sz="2000">
                <a:solidFill>
                  <a:srgbClr val="2D3748"/>
                </a:solidFill>
              </a:defRPr>
            </a:pPr>
            <a:r>
              <a:t>Secure session management</a:t>
            </a:r>
          </a:p>
          <a:p>
            <a:pPr>
              <a:defRPr sz="2000">
                <a:solidFill>
                  <a:srgbClr val="2D3748"/>
                </a:solidFill>
              </a:defRPr>
            </a:pPr>
            <a:r>
              <a:t>Complete audit logging and accountability</a:t>
            </a:r>
          </a:p>
          <a:p>
            <a:pPr>
              <a:defRPr sz="2000">
                <a:solidFill>
                  <a:srgbClr val="2D3748"/>
                </a:solidFill>
              </a:defRPr>
            </a:pPr>
            <a:r>
              <a:t>Immutable PDF records - Data integrity</a:t>
            </a:r>
          </a:p>
          <a:p>
            <a:pPr>
              <a:defRPr sz="2000">
                <a:solidFill>
                  <a:srgbClr val="2D3748"/>
                </a:solidFill>
              </a:defRPr>
            </a:pPr>
            <a:r>
              <a:t>Timestamp precision with IST timezone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600" b="1">
                <a:solidFill>
                  <a:srgbClr val="0052A5"/>
                </a:solidFill>
              </a:defRPr>
            </a:pPr>
            <a:r>
              <a:t>Modern, Scalable Design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defRPr sz="2000">
                <a:solidFill>
                  <a:srgbClr val="2D3748"/>
                </a:solidFill>
              </a:defRPr>
            </a:pPr>
            <a:r>
              <a:t>Frontend: Modern HTML5 + CSS3 + JavaScript</a:t>
            </a:r>
          </a:p>
          <a:p>
            <a:pPr>
              <a:defRPr sz="2000">
                <a:solidFill>
                  <a:srgbClr val="2D3748"/>
                </a:solidFill>
              </a:defRPr>
            </a:pPr>
            <a:r>
              <a:t>Backend: Node.js with TypeScript</a:t>
            </a:r>
          </a:p>
          <a:p>
            <a:pPr>
              <a:defRPr sz="2000">
                <a:solidFill>
                  <a:srgbClr val="2D3748"/>
                </a:solidFill>
              </a:defRPr>
            </a:pPr>
            <a:r>
              <a:t>Automation: Playwright browser automation</a:t>
            </a:r>
          </a:p>
          <a:p>
            <a:pPr>
              <a:defRPr sz="2000">
                <a:solidFill>
                  <a:srgbClr val="2D3748"/>
                </a:solidFill>
              </a:defRPr>
            </a:pPr>
            <a:r>
              <a:t>PDF: Professional PDFKit library</a:t>
            </a:r>
          </a:p>
          <a:p>
            <a:pPr>
              <a:defRPr sz="2000">
                <a:solidFill>
                  <a:srgbClr val="2D3748"/>
                </a:solidFill>
              </a:defRPr>
            </a:pPr>
            <a:r>
              <a:t>Modular architecture - Clean code structure</a:t>
            </a:r>
          </a:p>
          <a:p>
            <a:pPr>
              <a:defRPr sz="2000">
                <a:solidFill>
                  <a:srgbClr val="2D3748"/>
                </a:solidFill>
              </a:defRPr>
            </a:pPr>
            <a:r>
              <a:t>Enterprise error handling throughout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600" b="1">
                <a:solidFill>
                  <a:srgbClr val="0052A5"/>
                </a:solidFill>
              </a:defRPr>
            </a:pPr>
            <a:r>
              <a:t>Getting Started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defRPr sz="2000">
                <a:solidFill>
                  <a:srgbClr val="2D3748"/>
                </a:solidFill>
              </a:defRPr>
            </a:pPr>
            <a:r>
              <a:t>Cloud or On-Premise deployment options</a:t>
            </a:r>
          </a:p>
          <a:p>
            <a:pPr>
              <a:defRPr sz="2000">
                <a:solidFill>
                  <a:srgbClr val="2D3748"/>
                </a:solidFill>
              </a:defRPr>
            </a:pPr>
            <a:r>
              <a:t>2-hour onboarding and training session</a:t>
            </a:r>
          </a:p>
          <a:p>
            <a:pPr>
              <a:defRPr sz="2000">
                <a:solidFill>
                  <a:srgbClr val="2D3748"/>
                </a:solidFill>
              </a:defRPr>
            </a:pPr>
            <a:r>
              <a:t>Complete documentation provided</a:t>
            </a:r>
          </a:p>
          <a:p>
            <a:pPr>
              <a:defRPr sz="2000">
                <a:solidFill>
                  <a:srgbClr val="2D3748"/>
                </a:solidFill>
              </a:defRPr>
            </a:pPr>
            <a:r>
              <a:t>Email and phone support available</a:t>
            </a:r>
          </a:p>
          <a:p>
            <a:pPr>
              <a:defRPr sz="2000">
                <a:solidFill>
                  <a:srgbClr val="2D3748"/>
                </a:solidFill>
              </a:defRPr>
            </a:pPr>
            <a:r>
              <a:t>Monthly feature updates</a:t>
            </a:r>
          </a:p>
          <a:p>
            <a:pPr>
              <a:defRPr sz="2000">
                <a:solidFill>
                  <a:srgbClr val="2D3748"/>
                </a:solidFill>
              </a:defRPr>
            </a:pPr>
            <a:r>
              <a:t>Dedicated account manager (Professional+)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600" b="1">
                <a:solidFill>
                  <a:srgbClr val="0052A5"/>
                </a:solidFill>
              </a:defRPr>
            </a:pPr>
            <a:r>
              <a:t>Live Demonstration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defRPr sz="2000">
                <a:solidFill>
                  <a:srgbClr val="2D3748"/>
                </a:solidFill>
              </a:defRPr>
            </a:pPr>
            <a:r>
              <a:t>UI Walkthrough - Professional interface</a:t>
            </a:r>
          </a:p>
          <a:p>
            <a:pPr>
              <a:defRPr sz="2000">
                <a:solidFill>
                  <a:srgbClr val="2D3748"/>
                </a:solidFill>
              </a:defRPr>
            </a:pPr>
            <a:r>
              <a:t>Role Creation - Quick automation demo</a:t>
            </a:r>
          </a:p>
          <a:p>
            <a:pPr>
              <a:defRPr sz="2000">
                <a:solidFill>
                  <a:srgbClr val="2D3748"/>
                </a:solidFill>
              </a:defRPr>
            </a:pPr>
            <a:r>
              <a:t>Complete Setup Flow - End-to-end process</a:t>
            </a:r>
          </a:p>
          <a:p>
            <a:pPr>
              <a:defRPr sz="2000">
                <a:solidFill>
                  <a:srgbClr val="2D3748"/>
                </a:solidFill>
              </a:defRPr>
            </a:pPr>
            <a:r>
              <a:t>PDF Review - Audit trail examination</a:t>
            </a:r>
          </a:p>
          <a:p>
            <a:pPr>
              <a:defRPr sz="2000">
                <a:solidFill>
                  <a:srgbClr val="2D3748"/>
                </a:solidFill>
              </a:defRPr>
            </a:pPr>
            <a:r>
              <a:t>Real-time logging - Activity monitoring</a:t>
            </a:r>
          </a:p>
          <a:p>
            <a:pPr>
              <a:defRPr sz="2000">
                <a:solidFill>
                  <a:srgbClr val="2D3748"/>
                </a:solidFill>
              </a:defRPr>
            </a:pPr>
            <a:r>
              <a:t>Q&amp;A - Your specific questions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600" b="1">
                <a:solidFill>
                  <a:srgbClr val="0052A5"/>
                </a:solidFill>
              </a:defRPr>
            </a:pPr>
            <a:r>
              <a:t>Flexible Pricing Options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defRPr sz="2000">
                <a:solidFill>
                  <a:srgbClr val="2D3748"/>
                </a:solidFill>
              </a:defRPr>
            </a:pPr>
            <a:r>
              <a:t>Starter: $499/month - Up to 50 users/month</a:t>
            </a:r>
          </a:p>
          <a:p>
            <a:pPr>
              <a:defRPr sz="2000">
                <a:solidFill>
                  <a:srgbClr val="2D3748"/>
                </a:solidFill>
              </a:defRPr>
            </a:pPr>
            <a:r>
              <a:t>Professional: $1,299/month - Up to 200 users/month</a:t>
            </a:r>
          </a:p>
          <a:p>
            <a:pPr>
              <a:defRPr sz="2000">
                <a:solidFill>
                  <a:srgbClr val="2D3748"/>
                </a:solidFill>
              </a:defRPr>
            </a:pPr>
            <a:r>
              <a:t>Enterprise: Custom pricing - Unlimited users</a:t>
            </a:r>
          </a:p>
          <a:p>
            <a:pPr>
              <a:defRPr sz="2000">
                <a:solidFill>
                  <a:srgbClr val="2D3748"/>
                </a:solidFill>
              </a:defRPr>
            </a:pPr>
            <a:r>
              <a:t>All plans include PDF audit trails</a:t>
            </a:r>
          </a:p>
          <a:p>
            <a:pPr>
              <a:defRPr sz="2000">
                <a:solidFill>
                  <a:srgbClr val="2D3748"/>
                </a:solidFill>
              </a:defRPr>
            </a:pPr>
            <a:r>
              <a:t>Free 14-day trial available</a:t>
            </a:r>
          </a:p>
          <a:p>
            <a:pPr>
              <a:defRPr sz="2000">
                <a:solidFill>
                  <a:srgbClr val="2D3748"/>
                </a:solidFill>
              </a:defRPr>
            </a:pPr>
            <a:r>
              <a:t>30-day pilot program option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600" b="1">
                <a:solidFill>
                  <a:srgbClr val="0052A5"/>
                </a:solidFill>
              </a:defRPr>
            </a:pPr>
            <a:r>
              <a:t>Let's Get Started!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defRPr sz="2000">
                <a:solidFill>
                  <a:srgbClr val="2D3748"/>
                </a:solidFill>
              </a:defRPr>
            </a:pPr>
            <a:r>
              <a:t>Schedule a Live Demo - See it in action</a:t>
            </a:r>
          </a:p>
          <a:p>
            <a:pPr>
              <a:defRPr sz="2000">
                <a:solidFill>
                  <a:srgbClr val="2D3748"/>
                </a:solidFill>
              </a:defRPr>
            </a:pPr>
            <a:r>
              <a:t>Free Trial - 14 days, no credit card required</a:t>
            </a:r>
          </a:p>
          <a:p>
            <a:pPr>
              <a:defRPr sz="2000">
                <a:solidFill>
                  <a:srgbClr val="2D3748"/>
                </a:solidFill>
              </a:defRPr>
            </a:pPr>
            <a:r>
              <a:t>Pilot Program - 30-day evaluation</a:t>
            </a:r>
          </a:p>
          <a:p>
            <a:pPr>
              <a:defRPr sz="2000">
                <a:solidFill>
                  <a:srgbClr val="2D3748"/>
                </a:solidFill>
              </a:defRPr>
            </a:pPr>
            <a:r>
              <a:t>Contact: sales@dlwa-automation.com</a:t>
            </a:r>
          </a:p>
          <a:p>
            <a:pPr>
              <a:defRPr sz="2000">
                <a:solidFill>
                  <a:srgbClr val="2D3748"/>
                </a:solidFill>
              </a:defRPr>
            </a:pPr>
            <a:r>
              <a:t>Phone: +1 (555) 123-4567</a:t>
            </a:r>
          </a:p>
          <a:p>
            <a:pPr>
              <a:defRPr sz="2000">
                <a:solidFill>
                  <a:srgbClr val="2D3748"/>
                </a:solidFill>
              </a:defRPr>
            </a:pPr>
            <a:r>
              <a:t>Website: www.dlwa-automation.com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1828800" y="2286000"/>
            <a:ext cx="54864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4800" b="1">
                <a:solidFill>
                  <a:srgbClr val="0052A5"/>
                </a:solidFill>
              </a:defRPr>
            </a:pPr>
            <a:r>
              <a:t>Questions &amp; Discussion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828800" y="3657600"/>
            <a:ext cx="54864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>
                <a:solidFill>
                  <a:srgbClr val="718096"/>
                </a:solidFill>
              </a:defRPr>
            </a:pPr>
            <a:r>
              <a:t>We're here to help!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